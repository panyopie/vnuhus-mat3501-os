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E6C7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-316" y="-6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2EA-9373-46CA-84BC-553A5951D7E0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87DBC-14C6-4BE5-B21D-E6C085DD5A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2EA-9373-46CA-84BC-553A5951D7E0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87DBC-14C6-4BE5-B21D-E6C085DD5A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2EA-9373-46CA-84BC-553A5951D7E0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87DBC-14C6-4BE5-B21D-E6C085DD5A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2EA-9373-46CA-84BC-553A5951D7E0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87DBC-14C6-4BE5-B21D-E6C085DD5A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2EA-9373-46CA-84BC-553A5951D7E0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87DBC-14C6-4BE5-B21D-E6C085DD5A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2EA-9373-46CA-84BC-553A5951D7E0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87DBC-14C6-4BE5-B21D-E6C085DD5A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2EA-9373-46CA-84BC-553A5951D7E0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87DBC-14C6-4BE5-B21D-E6C085DD5A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2EA-9373-46CA-84BC-553A5951D7E0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87DBC-14C6-4BE5-B21D-E6C085DD5A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2EA-9373-46CA-84BC-553A5951D7E0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87DBC-14C6-4BE5-B21D-E6C085DD5A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2EA-9373-46CA-84BC-553A5951D7E0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87DBC-14C6-4BE5-B21D-E6C085DD5A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62EA-9373-46CA-84BC-553A5951D7E0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87DBC-14C6-4BE5-B21D-E6C085DD5A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C62EA-9373-46CA-84BC-553A5951D7E0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87DBC-14C6-4BE5-B21D-E6C085DD5A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iFS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i</a:t>
            </a:r>
            <a:r>
              <a:rPr lang="en-US" dirty="0" smtClean="0"/>
              <a:t>-node file system implementation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3352800" y="1047750"/>
            <a:ext cx="5791200" cy="23622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" name="Rectangle 3"/>
          <p:cNvSpPr/>
          <p:nvPr/>
        </p:nvSpPr>
        <p:spPr>
          <a:xfrm>
            <a:off x="685800" y="10477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Boot block</a:t>
            </a:r>
            <a:endParaRPr lang="en-US" sz="1400" dirty="0"/>
          </a:p>
        </p:txBody>
      </p:sp>
      <p:sp>
        <p:nvSpPr>
          <p:cNvPr id="5" name="Rectangle 4"/>
          <p:cNvSpPr/>
          <p:nvPr/>
        </p:nvSpPr>
        <p:spPr>
          <a:xfrm>
            <a:off x="685800" y="1352550"/>
            <a:ext cx="12192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Super block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685800" y="16573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Inode table</a:t>
            </a:r>
            <a:endParaRPr lang="en-US" sz="1400" dirty="0"/>
          </a:p>
        </p:txBody>
      </p:sp>
      <p:sp>
        <p:nvSpPr>
          <p:cNvPr id="7" name="Rectangle 6"/>
          <p:cNvSpPr/>
          <p:nvPr/>
        </p:nvSpPr>
        <p:spPr>
          <a:xfrm>
            <a:off x="685800" y="19621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Root dir</a:t>
            </a:r>
            <a:endParaRPr lang="en-US" sz="1400" dirty="0"/>
          </a:p>
        </p:txBody>
      </p:sp>
      <p:sp>
        <p:nvSpPr>
          <p:cNvPr id="8" name="Rectangle 7"/>
          <p:cNvSpPr/>
          <p:nvPr/>
        </p:nvSpPr>
        <p:spPr>
          <a:xfrm>
            <a:off x="685800" y="22669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1</a:t>
            </a:r>
            <a:r>
              <a:rPr lang="en-US" sz="1400" baseline="30000" dirty="0" smtClean="0"/>
              <a:t>st</a:t>
            </a:r>
            <a:r>
              <a:rPr lang="en-US" sz="1400" dirty="0" smtClean="0"/>
              <a:t> free node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685800" y="25717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...</a:t>
            </a:r>
            <a:endParaRPr lang="en-US" sz="1400" dirty="0"/>
          </a:p>
        </p:txBody>
      </p:sp>
      <p:sp>
        <p:nvSpPr>
          <p:cNvPr id="10" name="Rectangle 9"/>
          <p:cNvSpPr/>
          <p:nvPr/>
        </p:nvSpPr>
        <p:spPr>
          <a:xfrm>
            <a:off x="685800" y="28765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Last free node</a:t>
            </a:r>
            <a:endParaRPr lang="en-US" sz="1400" dirty="0"/>
          </a:p>
        </p:txBody>
      </p:sp>
      <p:sp>
        <p:nvSpPr>
          <p:cNvPr id="11" name="Rectangle 10"/>
          <p:cNvSpPr/>
          <p:nvPr/>
        </p:nvSpPr>
        <p:spPr>
          <a:xfrm>
            <a:off x="685800" y="31813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Data block</a:t>
            </a:r>
            <a:endParaRPr lang="en-US" sz="1400" dirty="0"/>
          </a:p>
        </p:txBody>
      </p:sp>
      <p:sp>
        <p:nvSpPr>
          <p:cNvPr id="12" name="Rectangle 11"/>
          <p:cNvSpPr/>
          <p:nvPr/>
        </p:nvSpPr>
        <p:spPr>
          <a:xfrm>
            <a:off x="685800" y="34861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...</a:t>
            </a:r>
            <a:endParaRPr lang="en-US" sz="1400" dirty="0"/>
          </a:p>
        </p:txBody>
      </p:sp>
      <p:cxnSp>
        <p:nvCxnSpPr>
          <p:cNvPr id="16" name="Straight Connector 15"/>
          <p:cNvCxnSpPr>
            <a:stCxn id="5" idx="3"/>
          </p:cNvCxnSpPr>
          <p:nvPr/>
        </p:nvCxnSpPr>
        <p:spPr>
          <a:xfrm flipV="1">
            <a:off x="1905000" y="1200150"/>
            <a:ext cx="1371600" cy="30480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1000" y="10477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381000" y="13525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6573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19621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22" name="Freeform 21"/>
          <p:cNvSpPr/>
          <p:nvPr/>
        </p:nvSpPr>
        <p:spPr>
          <a:xfrm>
            <a:off x="1928707" y="1429173"/>
            <a:ext cx="1835573" cy="395111"/>
          </a:xfrm>
          <a:custGeom>
            <a:avLst/>
            <a:gdLst>
              <a:gd name="connsiteX0" fmla="*/ 1835573 w 1835573"/>
              <a:gd name="connsiteY0" fmla="*/ 0 h 395111"/>
              <a:gd name="connsiteX1" fmla="*/ 1165013 w 1835573"/>
              <a:gd name="connsiteY1" fmla="*/ 74507 h 395111"/>
              <a:gd name="connsiteX2" fmla="*/ 629920 w 1835573"/>
              <a:gd name="connsiteY2" fmla="*/ 345440 h 395111"/>
              <a:gd name="connsiteX3" fmla="*/ 0 w 1835573"/>
              <a:gd name="connsiteY3" fmla="*/ 372534 h 395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35573" h="395111">
                <a:moveTo>
                  <a:pt x="1835573" y="0"/>
                </a:moveTo>
                <a:cubicBezTo>
                  <a:pt x="1600764" y="8467"/>
                  <a:pt x="1365955" y="16934"/>
                  <a:pt x="1165013" y="74507"/>
                </a:cubicBezTo>
                <a:cubicBezTo>
                  <a:pt x="964071" y="132080"/>
                  <a:pt x="824089" y="295769"/>
                  <a:pt x="629920" y="345440"/>
                </a:cubicBezTo>
                <a:cubicBezTo>
                  <a:pt x="435751" y="395111"/>
                  <a:pt x="217875" y="383822"/>
                  <a:pt x="0" y="372534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/>
          <p:cNvSpPr/>
          <p:nvPr/>
        </p:nvSpPr>
        <p:spPr>
          <a:xfrm>
            <a:off x="1905001" y="1581150"/>
            <a:ext cx="1828799" cy="533400"/>
          </a:xfrm>
          <a:custGeom>
            <a:avLst/>
            <a:gdLst>
              <a:gd name="connsiteX0" fmla="*/ 1835573 w 1835573"/>
              <a:gd name="connsiteY0" fmla="*/ 0 h 395111"/>
              <a:gd name="connsiteX1" fmla="*/ 1165013 w 1835573"/>
              <a:gd name="connsiteY1" fmla="*/ 74507 h 395111"/>
              <a:gd name="connsiteX2" fmla="*/ 629920 w 1835573"/>
              <a:gd name="connsiteY2" fmla="*/ 345440 h 395111"/>
              <a:gd name="connsiteX3" fmla="*/ 0 w 1835573"/>
              <a:gd name="connsiteY3" fmla="*/ 372534 h 395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35573" h="395111">
                <a:moveTo>
                  <a:pt x="1835573" y="0"/>
                </a:moveTo>
                <a:cubicBezTo>
                  <a:pt x="1600764" y="8467"/>
                  <a:pt x="1365955" y="16934"/>
                  <a:pt x="1165013" y="74507"/>
                </a:cubicBezTo>
                <a:cubicBezTo>
                  <a:pt x="964071" y="132080"/>
                  <a:pt x="824089" y="295769"/>
                  <a:pt x="629920" y="345440"/>
                </a:cubicBezTo>
                <a:cubicBezTo>
                  <a:pt x="435751" y="395111"/>
                  <a:pt x="217875" y="383822"/>
                  <a:pt x="0" y="372534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/>
        </p:nvSpPr>
        <p:spPr>
          <a:xfrm>
            <a:off x="1905000" y="1962150"/>
            <a:ext cx="1828799" cy="457200"/>
          </a:xfrm>
          <a:custGeom>
            <a:avLst/>
            <a:gdLst>
              <a:gd name="connsiteX0" fmla="*/ 1835573 w 1835573"/>
              <a:gd name="connsiteY0" fmla="*/ 0 h 395111"/>
              <a:gd name="connsiteX1" fmla="*/ 1165013 w 1835573"/>
              <a:gd name="connsiteY1" fmla="*/ 74507 h 395111"/>
              <a:gd name="connsiteX2" fmla="*/ 629920 w 1835573"/>
              <a:gd name="connsiteY2" fmla="*/ 345440 h 395111"/>
              <a:gd name="connsiteX3" fmla="*/ 0 w 1835573"/>
              <a:gd name="connsiteY3" fmla="*/ 372534 h 395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35573" h="395111">
                <a:moveTo>
                  <a:pt x="1835573" y="0"/>
                </a:moveTo>
                <a:cubicBezTo>
                  <a:pt x="1600764" y="8467"/>
                  <a:pt x="1365955" y="16934"/>
                  <a:pt x="1165013" y="74507"/>
                </a:cubicBezTo>
                <a:cubicBezTo>
                  <a:pt x="964071" y="132080"/>
                  <a:pt x="824089" y="295769"/>
                  <a:pt x="629920" y="345440"/>
                </a:cubicBezTo>
                <a:cubicBezTo>
                  <a:pt x="435751" y="395111"/>
                  <a:pt x="217875" y="383822"/>
                  <a:pt x="0" y="372534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/>
          <p:cNvSpPr/>
          <p:nvPr/>
        </p:nvSpPr>
        <p:spPr>
          <a:xfrm>
            <a:off x="1905000" y="2190750"/>
            <a:ext cx="1828799" cy="838200"/>
          </a:xfrm>
          <a:custGeom>
            <a:avLst/>
            <a:gdLst>
              <a:gd name="connsiteX0" fmla="*/ 1835573 w 1835573"/>
              <a:gd name="connsiteY0" fmla="*/ 0 h 395111"/>
              <a:gd name="connsiteX1" fmla="*/ 1165013 w 1835573"/>
              <a:gd name="connsiteY1" fmla="*/ 74507 h 395111"/>
              <a:gd name="connsiteX2" fmla="*/ 629920 w 1835573"/>
              <a:gd name="connsiteY2" fmla="*/ 345440 h 395111"/>
              <a:gd name="connsiteX3" fmla="*/ 0 w 1835573"/>
              <a:gd name="connsiteY3" fmla="*/ 372534 h 395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35573" h="395111">
                <a:moveTo>
                  <a:pt x="1835573" y="0"/>
                </a:moveTo>
                <a:cubicBezTo>
                  <a:pt x="1600764" y="8467"/>
                  <a:pt x="1365955" y="16934"/>
                  <a:pt x="1165013" y="74507"/>
                </a:cubicBezTo>
                <a:cubicBezTo>
                  <a:pt x="964071" y="132080"/>
                  <a:pt x="824089" y="295769"/>
                  <a:pt x="629920" y="345440"/>
                </a:cubicBezTo>
                <a:cubicBezTo>
                  <a:pt x="435751" y="395111"/>
                  <a:pt x="217875" y="383822"/>
                  <a:pt x="0" y="372534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/>
          <p:cNvSpPr/>
          <p:nvPr/>
        </p:nvSpPr>
        <p:spPr>
          <a:xfrm>
            <a:off x="1905000" y="1809750"/>
            <a:ext cx="1828799" cy="533400"/>
          </a:xfrm>
          <a:custGeom>
            <a:avLst/>
            <a:gdLst>
              <a:gd name="connsiteX0" fmla="*/ 1835573 w 1835573"/>
              <a:gd name="connsiteY0" fmla="*/ 0 h 395111"/>
              <a:gd name="connsiteX1" fmla="*/ 1165013 w 1835573"/>
              <a:gd name="connsiteY1" fmla="*/ 74507 h 395111"/>
              <a:gd name="connsiteX2" fmla="*/ 629920 w 1835573"/>
              <a:gd name="connsiteY2" fmla="*/ 345440 h 395111"/>
              <a:gd name="connsiteX3" fmla="*/ 0 w 1835573"/>
              <a:gd name="connsiteY3" fmla="*/ 372534 h 395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35573" h="395111">
                <a:moveTo>
                  <a:pt x="1835573" y="0"/>
                </a:moveTo>
                <a:cubicBezTo>
                  <a:pt x="1600764" y="8467"/>
                  <a:pt x="1365955" y="16934"/>
                  <a:pt x="1165013" y="74507"/>
                </a:cubicBezTo>
                <a:cubicBezTo>
                  <a:pt x="964071" y="132080"/>
                  <a:pt x="824089" y="295769"/>
                  <a:pt x="629920" y="345440"/>
                </a:cubicBezTo>
                <a:cubicBezTo>
                  <a:pt x="435751" y="395111"/>
                  <a:pt x="217875" y="383822"/>
                  <a:pt x="0" y="372534"/>
                </a:cubicBezTo>
              </a:path>
            </a:pathLst>
          </a:cu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00425" y="1123950"/>
            <a:ext cx="696277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3810000" y="2266950"/>
            <a:ext cx="3962400" cy="2133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3" name="Rectangle 12"/>
          <p:cNvSpPr/>
          <p:nvPr/>
        </p:nvSpPr>
        <p:spPr>
          <a:xfrm>
            <a:off x="685800" y="10477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Boot block</a:t>
            </a:r>
            <a:endParaRPr lang="en-US" sz="1400" dirty="0"/>
          </a:p>
        </p:txBody>
      </p:sp>
      <p:sp>
        <p:nvSpPr>
          <p:cNvPr id="14" name="Rectangle 13"/>
          <p:cNvSpPr/>
          <p:nvPr/>
        </p:nvSpPr>
        <p:spPr>
          <a:xfrm>
            <a:off x="685800" y="13525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Super block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1657350"/>
            <a:ext cx="12192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Inode 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19621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Root dir</a:t>
            </a:r>
            <a:endParaRPr lang="en-US" sz="1400" dirty="0"/>
          </a:p>
        </p:txBody>
      </p:sp>
      <p:sp>
        <p:nvSpPr>
          <p:cNvPr id="17" name="Rectangle 16"/>
          <p:cNvSpPr/>
          <p:nvPr/>
        </p:nvSpPr>
        <p:spPr>
          <a:xfrm>
            <a:off x="685800" y="22669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1</a:t>
            </a:r>
            <a:r>
              <a:rPr lang="en-US" sz="1400" baseline="30000" dirty="0" smtClean="0"/>
              <a:t>st</a:t>
            </a:r>
            <a:r>
              <a:rPr lang="en-US" sz="1400" dirty="0" smtClean="0"/>
              <a:t> free node</a:t>
            </a:r>
            <a:endParaRPr lang="en-US" sz="1400" dirty="0"/>
          </a:p>
        </p:txBody>
      </p:sp>
      <p:sp>
        <p:nvSpPr>
          <p:cNvPr id="18" name="Rectangle 17"/>
          <p:cNvSpPr/>
          <p:nvPr/>
        </p:nvSpPr>
        <p:spPr>
          <a:xfrm>
            <a:off x="685800" y="25717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...</a:t>
            </a:r>
            <a:endParaRPr lang="en-US" sz="1400" dirty="0"/>
          </a:p>
        </p:txBody>
      </p:sp>
      <p:sp>
        <p:nvSpPr>
          <p:cNvPr id="19" name="Rectangle 18"/>
          <p:cNvSpPr/>
          <p:nvPr/>
        </p:nvSpPr>
        <p:spPr>
          <a:xfrm>
            <a:off x="685800" y="28765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Last free node</a:t>
            </a:r>
            <a:endParaRPr lang="en-US" sz="1400" dirty="0"/>
          </a:p>
        </p:txBody>
      </p:sp>
      <p:sp>
        <p:nvSpPr>
          <p:cNvPr id="20" name="Rectangle 19"/>
          <p:cNvSpPr/>
          <p:nvPr/>
        </p:nvSpPr>
        <p:spPr>
          <a:xfrm>
            <a:off x="685800" y="31813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Data block</a:t>
            </a:r>
            <a:endParaRPr lang="en-US" sz="1400" dirty="0"/>
          </a:p>
        </p:txBody>
      </p:sp>
      <p:sp>
        <p:nvSpPr>
          <p:cNvPr id="21" name="Rectangle 20"/>
          <p:cNvSpPr/>
          <p:nvPr/>
        </p:nvSpPr>
        <p:spPr>
          <a:xfrm>
            <a:off x="685800" y="34861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...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381000" y="10477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23" name="TextBox 22"/>
          <p:cNvSpPr txBox="1"/>
          <p:nvPr/>
        </p:nvSpPr>
        <p:spPr>
          <a:xfrm>
            <a:off x="381000" y="13525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381000" y="16573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0" y="19621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886200" y="2297935"/>
            <a:ext cx="3852863" cy="2102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Rectangle 25"/>
          <p:cNvSpPr/>
          <p:nvPr/>
        </p:nvSpPr>
        <p:spPr>
          <a:xfrm>
            <a:off x="3810000" y="1504950"/>
            <a:ext cx="1524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7" name="Rectangle 26"/>
          <p:cNvSpPr/>
          <p:nvPr/>
        </p:nvSpPr>
        <p:spPr>
          <a:xfrm>
            <a:off x="3962400" y="1504950"/>
            <a:ext cx="1524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8" name="Rectangle 27"/>
          <p:cNvSpPr/>
          <p:nvPr/>
        </p:nvSpPr>
        <p:spPr>
          <a:xfrm>
            <a:off x="4114800" y="1504950"/>
            <a:ext cx="1524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9" name="Rectangle 28"/>
          <p:cNvSpPr/>
          <p:nvPr/>
        </p:nvSpPr>
        <p:spPr>
          <a:xfrm>
            <a:off x="4267200" y="1504950"/>
            <a:ext cx="1524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0" name="Rectangle 29"/>
          <p:cNvSpPr/>
          <p:nvPr/>
        </p:nvSpPr>
        <p:spPr>
          <a:xfrm>
            <a:off x="4419600" y="1504950"/>
            <a:ext cx="1524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1" name="Rectangle 30"/>
          <p:cNvSpPr/>
          <p:nvPr/>
        </p:nvSpPr>
        <p:spPr>
          <a:xfrm>
            <a:off x="4572000" y="1504950"/>
            <a:ext cx="152400" cy="304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2" name="Rectangle 31"/>
          <p:cNvSpPr/>
          <p:nvPr/>
        </p:nvSpPr>
        <p:spPr>
          <a:xfrm>
            <a:off x="4724400" y="1504950"/>
            <a:ext cx="1524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3" name="Rectangle 32"/>
          <p:cNvSpPr/>
          <p:nvPr/>
        </p:nvSpPr>
        <p:spPr>
          <a:xfrm>
            <a:off x="4876800" y="1504950"/>
            <a:ext cx="1524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4" name="Rectangle 33"/>
          <p:cNvSpPr/>
          <p:nvPr/>
        </p:nvSpPr>
        <p:spPr>
          <a:xfrm>
            <a:off x="5029200" y="1504950"/>
            <a:ext cx="1524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5" name="Rectangle 34"/>
          <p:cNvSpPr/>
          <p:nvPr/>
        </p:nvSpPr>
        <p:spPr>
          <a:xfrm>
            <a:off x="5181600" y="1504950"/>
            <a:ext cx="1524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5334000" y="1504950"/>
            <a:ext cx="1524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7" name="Rectangle 36"/>
          <p:cNvSpPr/>
          <p:nvPr/>
        </p:nvSpPr>
        <p:spPr>
          <a:xfrm>
            <a:off x="5486400" y="1504950"/>
            <a:ext cx="1524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8" name="Rectangle 37"/>
          <p:cNvSpPr/>
          <p:nvPr/>
        </p:nvSpPr>
        <p:spPr>
          <a:xfrm>
            <a:off x="5638800" y="1504950"/>
            <a:ext cx="1524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9" name="Rectangle 38"/>
          <p:cNvSpPr/>
          <p:nvPr/>
        </p:nvSpPr>
        <p:spPr>
          <a:xfrm>
            <a:off x="5791200" y="1504950"/>
            <a:ext cx="1524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0" name="Rectangle 39"/>
          <p:cNvSpPr/>
          <p:nvPr/>
        </p:nvSpPr>
        <p:spPr>
          <a:xfrm>
            <a:off x="5943600" y="1504950"/>
            <a:ext cx="1524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1" name="Rectangle 40"/>
          <p:cNvSpPr/>
          <p:nvPr/>
        </p:nvSpPr>
        <p:spPr>
          <a:xfrm>
            <a:off x="6096000" y="1504950"/>
            <a:ext cx="1524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43" name="Straight Connector 42"/>
          <p:cNvCxnSpPr>
            <a:stCxn id="15" idx="3"/>
            <a:endCxn id="26" idx="1"/>
          </p:cNvCxnSpPr>
          <p:nvPr/>
        </p:nvCxnSpPr>
        <p:spPr>
          <a:xfrm flipV="1">
            <a:off x="1905000" y="1657350"/>
            <a:ext cx="1905000" cy="15240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31" idx="2"/>
            <a:endCxn id="2050" idx="0"/>
          </p:cNvCxnSpPr>
          <p:nvPr/>
        </p:nvCxnSpPr>
        <p:spPr>
          <a:xfrm>
            <a:off x="4648200" y="1809750"/>
            <a:ext cx="1164432" cy="488185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414070" y="1227951"/>
            <a:ext cx="5389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inode</a:t>
            </a:r>
            <a:endParaRPr lang="en-US" sz="12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2114550"/>
            <a:ext cx="2090738" cy="436436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cxnSp>
        <p:nvCxnSpPr>
          <p:cNvPr id="52" name="Straight Connector 51"/>
          <p:cNvCxnSpPr>
            <a:endCxn id="2051" idx="1"/>
          </p:cNvCxnSpPr>
          <p:nvPr/>
        </p:nvCxnSpPr>
        <p:spPr>
          <a:xfrm flipV="1">
            <a:off x="6096000" y="2332768"/>
            <a:ext cx="685800" cy="467582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705600" y="1837551"/>
            <a:ext cx="16854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 highest significant bits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3200400" y="2266950"/>
            <a:ext cx="5562600" cy="1219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3" name="Rectangle 12"/>
          <p:cNvSpPr/>
          <p:nvPr/>
        </p:nvSpPr>
        <p:spPr>
          <a:xfrm>
            <a:off x="685800" y="10477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Boot block</a:t>
            </a:r>
            <a:endParaRPr lang="en-US" sz="1400" dirty="0"/>
          </a:p>
        </p:txBody>
      </p:sp>
      <p:sp>
        <p:nvSpPr>
          <p:cNvPr id="14" name="Rectangle 13"/>
          <p:cNvSpPr/>
          <p:nvPr/>
        </p:nvSpPr>
        <p:spPr>
          <a:xfrm>
            <a:off x="685800" y="13525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Super block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16573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Inode 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1962150"/>
            <a:ext cx="12192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Root dir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2669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1</a:t>
            </a:r>
            <a:r>
              <a:rPr lang="en-US" sz="1400" baseline="30000" dirty="0" smtClean="0"/>
              <a:t>st</a:t>
            </a:r>
            <a:r>
              <a:rPr lang="en-US" sz="1400" dirty="0" smtClean="0"/>
              <a:t> free node</a:t>
            </a:r>
            <a:endParaRPr lang="en-US" sz="1400" dirty="0"/>
          </a:p>
        </p:txBody>
      </p:sp>
      <p:sp>
        <p:nvSpPr>
          <p:cNvPr id="18" name="Rectangle 17"/>
          <p:cNvSpPr/>
          <p:nvPr/>
        </p:nvSpPr>
        <p:spPr>
          <a:xfrm>
            <a:off x="685800" y="25717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...</a:t>
            </a:r>
            <a:endParaRPr lang="en-US" sz="1400" dirty="0"/>
          </a:p>
        </p:txBody>
      </p:sp>
      <p:sp>
        <p:nvSpPr>
          <p:cNvPr id="19" name="Rectangle 18"/>
          <p:cNvSpPr/>
          <p:nvPr/>
        </p:nvSpPr>
        <p:spPr>
          <a:xfrm>
            <a:off x="685800" y="28765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Last free node</a:t>
            </a:r>
            <a:endParaRPr lang="en-US" sz="1400" dirty="0"/>
          </a:p>
        </p:txBody>
      </p:sp>
      <p:sp>
        <p:nvSpPr>
          <p:cNvPr id="20" name="Rectangle 19"/>
          <p:cNvSpPr/>
          <p:nvPr/>
        </p:nvSpPr>
        <p:spPr>
          <a:xfrm>
            <a:off x="685800" y="31813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Data block</a:t>
            </a:r>
            <a:endParaRPr lang="en-US" sz="1400" dirty="0"/>
          </a:p>
        </p:txBody>
      </p:sp>
      <p:sp>
        <p:nvSpPr>
          <p:cNvPr id="21" name="Rectangle 20"/>
          <p:cNvSpPr/>
          <p:nvPr/>
        </p:nvSpPr>
        <p:spPr>
          <a:xfrm>
            <a:off x="685800" y="34861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...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381000" y="10477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23" name="TextBox 22"/>
          <p:cNvSpPr txBox="1"/>
          <p:nvPr/>
        </p:nvSpPr>
        <p:spPr>
          <a:xfrm>
            <a:off x="381000" y="13525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381000" y="16573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0" y="19621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26" name="Rectangle 25"/>
          <p:cNvSpPr/>
          <p:nvPr/>
        </p:nvSpPr>
        <p:spPr>
          <a:xfrm>
            <a:off x="3810000" y="1504950"/>
            <a:ext cx="3048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8" name="Rectangle 27"/>
          <p:cNvSpPr/>
          <p:nvPr/>
        </p:nvSpPr>
        <p:spPr>
          <a:xfrm>
            <a:off x="4114800" y="1504950"/>
            <a:ext cx="3048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0" name="Rectangle 29"/>
          <p:cNvSpPr/>
          <p:nvPr/>
        </p:nvSpPr>
        <p:spPr>
          <a:xfrm>
            <a:off x="4419600" y="1504950"/>
            <a:ext cx="304800" cy="304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2" name="Rectangle 31"/>
          <p:cNvSpPr/>
          <p:nvPr/>
        </p:nvSpPr>
        <p:spPr>
          <a:xfrm>
            <a:off x="4724400" y="1504950"/>
            <a:ext cx="3048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4" name="Rectangle 33"/>
          <p:cNvSpPr/>
          <p:nvPr/>
        </p:nvSpPr>
        <p:spPr>
          <a:xfrm>
            <a:off x="5029200" y="1504950"/>
            <a:ext cx="3048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5334000" y="1504950"/>
            <a:ext cx="3048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8" name="Rectangle 37"/>
          <p:cNvSpPr/>
          <p:nvPr/>
        </p:nvSpPr>
        <p:spPr>
          <a:xfrm>
            <a:off x="5638800" y="1504950"/>
            <a:ext cx="3048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0" name="Rectangle 39"/>
          <p:cNvSpPr/>
          <p:nvPr/>
        </p:nvSpPr>
        <p:spPr>
          <a:xfrm>
            <a:off x="5943600" y="1504950"/>
            <a:ext cx="3048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43" name="Straight Connector 42"/>
          <p:cNvCxnSpPr>
            <a:stCxn id="16" idx="3"/>
            <a:endCxn id="26" idx="1"/>
          </p:cNvCxnSpPr>
          <p:nvPr/>
        </p:nvCxnSpPr>
        <p:spPr>
          <a:xfrm flipV="1">
            <a:off x="1905000" y="1657350"/>
            <a:ext cx="1905000" cy="45720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endCxn id="49" idx="0"/>
          </p:cNvCxnSpPr>
          <p:nvPr/>
        </p:nvCxnSpPr>
        <p:spPr>
          <a:xfrm>
            <a:off x="4648200" y="1809750"/>
            <a:ext cx="1333500" cy="45720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76600" y="2343150"/>
            <a:ext cx="5343525" cy="1011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7" name="TextBox 46"/>
          <p:cNvSpPr txBox="1"/>
          <p:nvPr/>
        </p:nvSpPr>
        <p:spPr>
          <a:xfrm>
            <a:off x="4191000" y="1227951"/>
            <a:ext cx="767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File entry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685800" y="8191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Boot block</a:t>
            </a:r>
            <a:endParaRPr lang="en-US" sz="1400" dirty="0"/>
          </a:p>
        </p:txBody>
      </p:sp>
      <p:sp>
        <p:nvSpPr>
          <p:cNvPr id="14" name="Rectangle 13"/>
          <p:cNvSpPr/>
          <p:nvPr/>
        </p:nvSpPr>
        <p:spPr>
          <a:xfrm>
            <a:off x="685800" y="11239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Super block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14287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Inode 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17335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Root dir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038350"/>
            <a:ext cx="12192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1st free node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3431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...</a:t>
            </a:r>
            <a:endParaRPr lang="en-US" sz="1400" dirty="0"/>
          </a:p>
        </p:txBody>
      </p:sp>
      <p:sp>
        <p:nvSpPr>
          <p:cNvPr id="19" name="Rectangle 18"/>
          <p:cNvSpPr/>
          <p:nvPr/>
        </p:nvSpPr>
        <p:spPr>
          <a:xfrm>
            <a:off x="685800" y="2647950"/>
            <a:ext cx="12192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Last free node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9527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Data block</a:t>
            </a:r>
            <a:endParaRPr lang="en-US" sz="1400" dirty="0"/>
          </a:p>
        </p:txBody>
      </p:sp>
      <p:sp>
        <p:nvSpPr>
          <p:cNvPr id="21" name="Rectangle 20"/>
          <p:cNvSpPr/>
          <p:nvPr/>
        </p:nvSpPr>
        <p:spPr>
          <a:xfrm>
            <a:off x="685800" y="3257550"/>
            <a:ext cx="1219200" cy="3048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...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381000" y="8191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23" name="TextBox 22"/>
          <p:cNvSpPr txBox="1"/>
          <p:nvPr/>
        </p:nvSpPr>
        <p:spPr>
          <a:xfrm>
            <a:off x="381000" y="11239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381000" y="14287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0" y="17335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26" name="Rectangle 25"/>
          <p:cNvSpPr/>
          <p:nvPr/>
        </p:nvSpPr>
        <p:spPr>
          <a:xfrm>
            <a:off x="3810000" y="1119485"/>
            <a:ext cx="3048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8" name="Rectangle 27"/>
          <p:cNvSpPr/>
          <p:nvPr/>
        </p:nvSpPr>
        <p:spPr>
          <a:xfrm>
            <a:off x="4114800" y="1119485"/>
            <a:ext cx="3048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0" name="Rectangle 29"/>
          <p:cNvSpPr/>
          <p:nvPr/>
        </p:nvSpPr>
        <p:spPr>
          <a:xfrm>
            <a:off x="4419600" y="1119485"/>
            <a:ext cx="3048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2" name="Rectangle 31"/>
          <p:cNvSpPr/>
          <p:nvPr/>
        </p:nvSpPr>
        <p:spPr>
          <a:xfrm>
            <a:off x="4724400" y="1119485"/>
            <a:ext cx="3048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4" name="Rectangle 33"/>
          <p:cNvSpPr/>
          <p:nvPr/>
        </p:nvSpPr>
        <p:spPr>
          <a:xfrm>
            <a:off x="5029200" y="1119485"/>
            <a:ext cx="3048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5334000" y="1119485"/>
            <a:ext cx="3048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8" name="Rectangle 37"/>
          <p:cNvSpPr/>
          <p:nvPr/>
        </p:nvSpPr>
        <p:spPr>
          <a:xfrm>
            <a:off x="5638800" y="1119485"/>
            <a:ext cx="3048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0" name="Rectangle 39"/>
          <p:cNvSpPr/>
          <p:nvPr/>
        </p:nvSpPr>
        <p:spPr>
          <a:xfrm>
            <a:off x="5943600" y="1119485"/>
            <a:ext cx="304800" cy="304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43" name="Straight Connector 42"/>
          <p:cNvCxnSpPr>
            <a:stCxn id="17" idx="3"/>
            <a:endCxn id="26" idx="1"/>
          </p:cNvCxnSpPr>
          <p:nvPr/>
        </p:nvCxnSpPr>
        <p:spPr>
          <a:xfrm flipV="1">
            <a:off x="1905000" y="1271885"/>
            <a:ext cx="1905000" cy="918865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733800" y="842486"/>
            <a:ext cx="2550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List of free blocks – 1</a:t>
            </a:r>
            <a:r>
              <a:rPr lang="en-US" sz="1200" baseline="30000" dirty="0" smtClean="0"/>
              <a:t>st</a:t>
            </a:r>
            <a:r>
              <a:rPr lang="en-US" sz="1200" dirty="0" smtClean="0"/>
              <a:t> linked list node</a:t>
            </a:r>
            <a:endParaRPr lang="en-US" sz="1200" dirty="0"/>
          </a:p>
        </p:txBody>
      </p:sp>
      <p:sp>
        <p:nvSpPr>
          <p:cNvPr id="33" name="Rectangle 32"/>
          <p:cNvSpPr/>
          <p:nvPr/>
        </p:nvSpPr>
        <p:spPr>
          <a:xfrm>
            <a:off x="3810000" y="2414885"/>
            <a:ext cx="3048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5" name="Rectangle 34"/>
          <p:cNvSpPr/>
          <p:nvPr/>
        </p:nvSpPr>
        <p:spPr>
          <a:xfrm>
            <a:off x="4114800" y="2414885"/>
            <a:ext cx="3048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7" name="Rectangle 36"/>
          <p:cNvSpPr/>
          <p:nvPr/>
        </p:nvSpPr>
        <p:spPr>
          <a:xfrm>
            <a:off x="4419600" y="2414885"/>
            <a:ext cx="3048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9" name="Rectangle 38"/>
          <p:cNvSpPr/>
          <p:nvPr/>
        </p:nvSpPr>
        <p:spPr>
          <a:xfrm>
            <a:off x="4724400" y="2414885"/>
            <a:ext cx="3048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1" name="Rectangle 40"/>
          <p:cNvSpPr/>
          <p:nvPr/>
        </p:nvSpPr>
        <p:spPr>
          <a:xfrm>
            <a:off x="5029200" y="2414885"/>
            <a:ext cx="3048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k</a:t>
            </a:r>
            <a:endParaRPr lang="en-US" sz="1400" dirty="0"/>
          </a:p>
        </p:txBody>
      </p:sp>
      <p:sp>
        <p:nvSpPr>
          <p:cNvPr id="42" name="Rectangle 41"/>
          <p:cNvSpPr/>
          <p:nvPr/>
        </p:nvSpPr>
        <p:spPr>
          <a:xfrm>
            <a:off x="5334000" y="2414885"/>
            <a:ext cx="3048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4" name="Rectangle 43"/>
          <p:cNvSpPr/>
          <p:nvPr/>
        </p:nvSpPr>
        <p:spPr>
          <a:xfrm>
            <a:off x="5638800" y="2414885"/>
            <a:ext cx="304800" cy="304800"/>
          </a:xfrm>
          <a:prstGeom prst="rect">
            <a:avLst/>
          </a:prstGeom>
          <a:solidFill>
            <a:srgbClr val="FFFF00">
              <a:alpha val="40000"/>
            </a:srgb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6" name="Rectangle 45"/>
          <p:cNvSpPr/>
          <p:nvPr/>
        </p:nvSpPr>
        <p:spPr>
          <a:xfrm>
            <a:off x="5943600" y="2414885"/>
            <a:ext cx="304800" cy="304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8" name="TextBox 47"/>
          <p:cNvSpPr txBox="1"/>
          <p:nvPr/>
        </p:nvSpPr>
        <p:spPr>
          <a:xfrm>
            <a:off x="3733800" y="2137886"/>
            <a:ext cx="2550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List of free blocks – 1</a:t>
            </a:r>
            <a:r>
              <a:rPr lang="en-US" sz="1200" baseline="30000" dirty="0" smtClean="0"/>
              <a:t>st</a:t>
            </a:r>
            <a:r>
              <a:rPr lang="en-US" sz="1200" dirty="0" smtClean="0"/>
              <a:t> linked list node</a:t>
            </a:r>
            <a:endParaRPr lang="en-US" sz="1200" dirty="0"/>
          </a:p>
        </p:txBody>
      </p:sp>
      <p:sp>
        <p:nvSpPr>
          <p:cNvPr id="52" name="TextBox 51"/>
          <p:cNvSpPr txBox="1"/>
          <p:nvPr/>
        </p:nvSpPr>
        <p:spPr>
          <a:xfrm>
            <a:off x="4285692" y="1652885"/>
            <a:ext cx="15723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Next linked list node...</a:t>
            </a:r>
          </a:p>
        </p:txBody>
      </p:sp>
      <p:cxnSp>
        <p:nvCxnSpPr>
          <p:cNvPr id="53" name="Straight Connector 52"/>
          <p:cNvCxnSpPr>
            <a:stCxn id="19" idx="3"/>
            <a:endCxn id="33" idx="1"/>
          </p:cNvCxnSpPr>
          <p:nvPr/>
        </p:nvCxnSpPr>
        <p:spPr>
          <a:xfrm flipV="1">
            <a:off x="1905000" y="2567285"/>
            <a:ext cx="1905000" cy="233065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5825067" y="1267228"/>
            <a:ext cx="790222" cy="501227"/>
          </a:xfrm>
          <a:custGeom>
            <a:avLst/>
            <a:gdLst>
              <a:gd name="connsiteX0" fmla="*/ 433493 w 790222"/>
              <a:gd name="connsiteY0" fmla="*/ 0 h 501227"/>
              <a:gd name="connsiteX1" fmla="*/ 717973 w 790222"/>
              <a:gd name="connsiteY1" fmla="*/ 318347 h 501227"/>
              <a:gd name="connsiteX2" fmla="*/ 0 w 790222"/>
              <a:gd name="connsiteY2" fmla="*/ 501227 h 501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0222" h="501227">
                <a:moveTo>
                  <a:pt x="433493" y="0"/>
                </a:moveTo>
                <a:cubicBezTo>
                  <a:pt x="611857" y="117404"/>
                  <a:pt x="790222" y="234809"/>
                  <a:pt x="717973" y="318347"/>
                </a:cubicBezTo>
                <a:cubicBezTo>
                  <a:pt x="645724" y="401885"/>
                  <a:pt x="322862" y="451556"/>
                  <a:pt x="0" y="501227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 57"/>
          <p:cNvSpPr/>
          <p:nvPr/>
        </p:nvSpPr>
        <p:spPr>
          <a:xfrm>
            <a:off x="3244427" y="1849735"/>
            <a:ext cx="1063413" cy="575733"/>
          </a:xfrm>
          <a:custGeom>
            <a:avLst/>
            <a:gdLst>
              <a:gd name="connsiteX0" fmla="*/ 1063413 w 1063413"/>
              <a:gd name="connsiteY0" fmla="*/ 0 h 575733"/>
              <a:gd name="connsiteX1" fmla="*/ 88053 w 1063413"/>
              <a:gd name="connsiteY1" fmla="*/ 311573 h 575733"/>
              <a:gd name="connsiteX2" fmla="*/ 535093 w 1063413"/>
              <a:gd name="connsiteY2" fmla="*/ 575733 h 575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3413" h="575733">
                <a:moveTo>
                  <a:pt x="1063413" y="0"/>
                </a:moveTo>
                <a:cubicBezTo>
                  <a:pt x="619759" y="107809"/>
                  <a:pt x="176106" y="215618"/>
                  <a:pt x="88053" y="311573"/>
                </a:cubicBezTo>
                <a:cubicBezTo>
                  <a:pt x="0" y="407529"/>
                  <a:pt x="267546" y="491631"/>
                  <a:pt x="535093" y="575733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>
            <a:stCxn id="41" idx="2"/>
          </p:cNvCxnSpPr>
          <p:nvPr/>
        </p:nvCxnSpPr>
        <p:spPr>
          <a:xfrm>
            <a:off x="5181600" y="2719685"/>
            <a:ext cx="152400" cy="30480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597734" y="3028950"/>
            <a:ext cx="38908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If &lt;&gt; 0 then entry k is a free block</a:t>
            </a:r>
          </a:p>
          <a:p>
            <a:r>
              <a:rPr lang="en-US" sz="1200" dirty="0" smtClean="0"/>
              <a:t>If ==0 means this entry has been removed from the free list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46209" y="1123950"/>
            <a:ext cx="20150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1</a:t>
            </a:r>
            <a:r>
              <a:rPr lang="en-US" sz="1200" baseline="30000" dirty="0" smtClean="0"/>
              <a:t>st</a:t>
            </a:r>
            <a:r>
              <a:rPr lang="en-US" sz="1200" dirty="0" smtClean="0"/>
              <a:t> node is loaded to memory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7604" y="2419350"/>
            <a:ext cx="2112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Last node is loaded to memory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18942" y="1685151"/>
            <a:ext cx="19883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Other nodes are kept on disk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9063" y="3790950"/>
            <a:ext cx="3523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 smtClean="0"/>
              <a:t>Memory structure to keep 1</a:t>
            </a:r>
            <a:r>
              <a:rPr lang="en-US" sz="1400" b="1" baseline="30000" dirty="0" smtClean="0"/>
              <a:t>st</a:t>
            </a:r>
            <a:r>
              <a:rPr lang="en-US" sz="1400" b="1" dirty="0" smtClean="0"/>
              <a:t> and last nodes: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065069"/>
            <a:ext cx="8450263" cy="792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iFS</a:t>
            </a:r>
            <a:r>
              <a:rPr lang="en-US" dirty="0" smtClean="0"/>
              <a:t> modules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4248150"/>
            <a:ext cx="4114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Disk image file (</a:t>
            </a:r>
            <a:r>
              <a:rPr lang="en-US" dirty="0" err="1" smtClean="0"/>
              <a:t>diskimage</a:t>
            </a:r>
            <a:r>
              <a:rPr lang="en-US" dirty="0" smtClean="0"/>
              <a:t>)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3409950"/>
            <a:ext cx="4114800" cy="4572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Disk emulation (</a:t>
            </a:r>
            <a:r>
              <a:rPr lang="en-US" dirty="0" err="1" smtClean="0"/>
              <a:t>diskemu.c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2571750"/>
            <a:ext cx="4114800" cy="4572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I-node file system (</a:t>
            </a:r>
            <a:r>
              <a:rPr lang="en-US" dirty="0" err="1" smtClean="0"/>
              <a:t>fs.c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" y="1733550"/>
            <a:ext cx="4114800" cy="4572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Shell program (</a:t>
            </a:r>
            <a:r>
              <a:rPr lang="en-US" dirty="0" err="1" smtClean="0"/>
              <a:t>fsshell.c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105400" y="3409950"/>
            <a:ext cx="1825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Read/write disk blocks</a:t>
            </a:r>
          </a:p>
          <a:p>
            <a:r>
              <a:rPr lang="en-US" sz="1400" dirty="0" smtClean="0"/>
              <a:t>Make disk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5105400" y="2571750"/>
            <a:ext cx="3301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Mount, format, </a:t>
            </a:r>
            <a:r>
              <a:rPr lang="en-US" sz="1400" dirty="0" err="1" smtClean="0"/>
              <a:t>unmount</a:t>
            </a:r>
            <a:r>
              <a:rPr lang="en-US" sz="1400" dirty="0" smtClean="0"/>
              <a:t> file system</a:t>
            </a:r>
          </a:p>
          <a:p>
            <a:r>
              <a:rPr lang="en-US" sz="1400" dirty="0" smtClean="0"/>
              <a:t>Create, open, close, read, write etc. to files</a:t>
            </a:r>
            <a:endParaRPr 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05400" y="1806773"/>
            <a:ext cx="35469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A </a:t>
            </a:r>
            <a:r>
              <a:rPr lang="en-US" sz="1400" dirty="0"/>
              <a:t>c</a:t>
            </a:r>
            <a:r>
              <a:rPr lang="en-US" sz="1400" dirty="0" smtClean="0"/>
              <a:t>ommand line shell to access the file system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Assigment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4248150"/>
            <a:ext cx="4114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Disk image file (</a:t>
            </a:r>
            <a:r>
              <a:rPr lang="en-US" dirty="0" err="1" smtClean="0"/>
              <a:t>diskimage</a:t>
            </a:r>
            <a:r>
              <a:rPr lang="en-US" dirty="0" smtClean="0"/>
              <a:t>)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3409950"/>
            <a:ext cx="4114800" cy="4572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Disk emulation (</a:t>
            </a:r>
            <a:r>
              <a:rPr lang="en-US" dirty="0" err="1" smtClean="0"/>
              <a:t>diskemu.c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2571750"/>
            <a:ext cx="4114800" cy="4572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I-node file system (</a:t>
            </a:r>
            <a:r>
              <a:rPr lang="en-US" dirty="0" err="1" smtClean="0"/>
              <a:t>fs.c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" y="1733550"/>
            <a:ext cx="4114800" cy="4572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Shell program (</a:t>
            </a:r>
            <a:r>
              <a:rPr lang="en-US" dirty="0" err="1" smtClean="0"/>
              <a:t>fsshell.c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352800" y="2619586"/>
            <a:ext cx="1295400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checkDisk.c</a:t>
            </a: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5105400" y="2571750"/>
            <a:ext cx="3733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Write a new function fs_checkDisk() in checkdisk.c module. This file will be included as part of </a:t>
            </a:r>
            <a:r>
              <a:rPr lang="en-US" sz="1400" dirty="0" err="1" smtClean="0"/>
              <a:t>fs.c</a:t>
            </a:r>
            <a:r>
              <a:rPr lang="en-US" sz="1400" dirty="0" smtClean="0"/>
              <a:t> during the compilation.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</TotalTime>
  <Words>275</Words>
  <Application>Microsoft Office PowerPoint</Application>
  <PresentationFormat>On-screen Show (16:9)</PresentationFormat>
  <Paragraphs>83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iFS i-node file system implementation</vt:lpstr>
      <vt:lpstr>Slide 2</vt:lpstr>
      <vt:lpstr>Slide 3</vt:lpstr>
      <vt:lpstr>Slide 4</vt:lpstr>
      <vt:lpstr>Slide 5</vt:lpstr>
      <vt:lpstr>iFS modules</vt:lpstr>
      <vt:lpstr>Assigment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Quoc-Hung Hoang</dc:creator>
  <cp:lastModifiedBy>Quoc-Hung Hoang</cp:lastModifiedBy>
  <cp:revision>15</cp:revision>
  <dcterms:created xsi:type="dcterms:W3CDTF">2023-06-15T14:18:22Z</dcterms:created>
  <dcterms:modified xsi:type="dcterms:W3CDTF">2026-04-12T10:18:04Z</dcterms:modified>
</cp:coreProperties>
</file>