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36" y="-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5060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1675547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85986831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3974304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752277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108487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933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9599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1610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E03EBE-8DEA-9EF2-D8FC-FC25796A0BD2}" type="slidenum">
              <a:rPr/>
              <a:pPr>
                <a:defRPr/>
              </a:pPr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86668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61939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20778999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823587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19218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1279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197682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832847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3472641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16063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71227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66763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49568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549688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16736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619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105873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006004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9084630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1532054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28392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7245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407182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81207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395545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92895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32548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21116809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99474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710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7929202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78148844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563418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2615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67445976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21159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60929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4284082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608776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90095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2738320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64900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12690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80154377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32347839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76592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5760852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45008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1201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5232121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841479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9315564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30765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4221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1331885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3161103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23815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4954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02693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80919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7806714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pPr>
                <a:defRPr/>
              </a:pPr>
              <a:t>3/4/2026</a:t>
            </a:fld>
            <a:endParaRPr lang="en-US"/>
          </a:p>
        </p:txBody>
      </p:sp>
      <p:sp>
        <p:nvSpPr>
          <p:cNvPr id="143608404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98608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459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Virtual Memory Simulator</a:t>
            </a:r>
          </a:p>
        </p:txBody>
      </p:sp>
      <p:sp>
        <p:nvSpPr>
          <p:cNvPr id="194636753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MAT3501 - Principles of Operating System, MIM - HUS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7844401" y="1422400"/>
            <a:ext cx="2406650" cy="36004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313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smtClean="0"/>
              <a:t>Program architecture</a:t>
            </a:r>
            <a:endParaRPr dirty="0"/>
          </a:p>
        </p:txBody>
      </p:sp>
      <p:sp>
        <p:nvSpPr>
          <p:cNvPr id="227211524" name="Rectangle 227211523"/>
          <p:cNvSpPr/>
          <p:nvPr/>
        </p:nvSpPr>
        <p:spPr bwMode="auto">
          <a:xfrm>
            <a:off x="3797336" y="1990044"/>
            <a:ext cx="1258660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CPU</a:t>
            </a:r>
          </a:p>
        </p:txBody>
      </p:sp>
      <p:sp>
        <p:nvSpPr>
          <p:cNvPr id="1408228035" name="Flowchart: Document 1408228034"/>
          <p:cNvSpPr/>
          <p:nvPr/>
        </p:nvSpPr>
        <p:spPr bwMode="auto">
          <a:xfrm>
            <a:off x="1125960" y="1990044"/>
            <a:ext cx="1751919" cy="107002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ASM </a:t>
            </a:r>
            <a:r>
              <a:rPr dirty="0" smtClean="0"/>
              <a:t>program</a:t>
            </a:r>
            <a:endParaRPr dirty="0"/>
          </a:p>
          <a:p>
            <a:pPr lvl="0" algn="ctr">
              <a:defRPr/>
            </a:pPr>
            <a:r>
              <a:rPr sz="1400" dirty="0"/>
              <a:t>LOAD R1, 0x20A</a:t>
            </a:r>
          </a:p>
          <a:p>
            <a:pPr lvl="0" algn="ctr">
              <a:defRPr/>
            </a:pPr>
            <a:r>
              <a:rPr sz="1400" dirty="0"/>
              <a:t>STORE R0, 0x14E</a:t>
            </a:r>
          </a:p>
        </p:txBody>
      </p:sp>
      <p:sp>
        <p:nvSpPr>
          <p:cNvPr id="1234066154" name="TextBox 1234066153"/>
          <p:cNvSpPr txBox="1"/>
          <p:nvPr/>
        </p:nvSpPr>
        <p:spPr bwMode="auto">
          <a:xfrm>
            <a:off x="7876874" y="867455"/>
            <a:ext cx="121735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456119353" name="TextBox 1456119352"/>
          <p:cNvSpPr txBox="1"/>
          <p:nvPr/>
        </p:nvSpPr>
        <p:spPr bwMode="auto">
          <a:xfrm>
            <a:off x="8421882" y="1524478"/>
            <a:ext cx="1092995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400"/>
              <a:t>Page Table</a:t>
            </a:r>
          </a:p>
        </p:txBody>
      </p:sp>
      <p:sp>
        <p:nvSpPr>
          <p:cNvPr id="1548024991" name="Rectangle 1548024990"/>
          <p:cNvSpPr/>
          <p:nvPr/>
        </p:nvSpPr>
        <p:spPr bwMode="auto">
          <a:xfrm>
            <a:off x="5780917" y="1990044"/>
            <a:ext cx="1258660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MMU</a:t>
            </a:r>
          </a:p>
        </p:txBody>
      </p:sp>
      <p:graphicFrame>
        <p:nvGraphicFramePr>
          <p:cNvPr id="1560583536" name="Table 1560583535"/>
          <p:cNvGraphicFramePr>
            <a:graphicFrameLocks/>
          </p:cNvGraphicFramePr>
          <p:nvPr/>
        </p:nvGraphicFramePr>
        <p:xfrm>
          <a:off x="7814663" y="1831067"/>
          <a:ext cx="244077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194"/>
                <a:gridCol w="610194"/>
                <a:gridCol w="610194"/>
                <a:gridCol w="610194"/>
              </a:tblGrid>
              <a:tr h="3657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 dirty="0"/>
                        <a:t>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/>
                        <a:t>Dirty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100"/>
                        <a:t>Ref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100" dirty="0" smtClean="0"/>
                        <a:t>PA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100" dirty="0" smtClean="0"/>
                        <a:t>0/1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100" dirty="0" smtClean="0"/>
                        <a:t>0/1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100" dirty="0" smtClean="0"/>
                        <a:t>0/1</a:t>
                      </a:r>
                      <a:endParaRPr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55464364" name="Rectangle 1955464363"/>
          <p:cNvSpPr/>
          <p:nvPr/>
        </p:nvSpPr>
        <p:spPr bwMode="auto">
          <a:xfrm>
            <a:off x="5746786" y="3133838"/>
            <a:ext cx="1331276" cy="605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OS Page Supervisor</a:t>
            </a:r>
          </a:p>
        </p:txBody>
      </p:sp>
      <p:sp>
        <p:nvSpPr>
          <p:cNvPr id="141940206" name="Flowchart: Magnetic Disk 141940205"/>
          <p:cNvSpPr/>
          <p:nvPr/>
        </p:nvSpPr>
        <p:spPr bwMode="auto">
          <a:xfrm>
            <a:off x="5793351" y="4210049"/>
            <a:ext cx="1231900" cy="7493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Backing store</a:t>
            </a:r>
          </a:p>
        </p:txBody>
      </p:sp>
      <p:cxnSp>
        <p:nvCxnSpPr>
          <p:cNvPr id="1245309790" name="Line 1245309790"/>
          <p:cNvCxnSpPr>
            <a:endCxn id="227211524" idx="1"/>
          </p:cNvCxnSpPr>
          <p:nvPr/>
        </p:nvCxnSpPr>
        <p:spPr bwMode="auto">
          <a:xfrm flipV="1">
            <a:off x="2834251" y="2202656"/>
            <a:ext cx="963085" cy="2064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408207" name="Line 1245309790"/>
          <p:cNvCxnSpPr/>
          <p:nvPr/>
        </p:nvCxnSpPr>
        <p:spPr bwMode="auto">
          <a:xfrm flipV="1">
            <a:off x="5033806" y="2101579"/>
            <a:ext cx="768013" cy="0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7384" y="194367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Instruction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5209264" y="1852238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VA</a:t>
            </a:r>
            <a:endParaRPr lang="en-US" sz="1200" dirty="0"/>
          </a:p>
        </p:txBody>
      </p:sp>
      <p:cxnSp>
        <p:nvCxnSpPr>
          <p:cNvPr id="19" name="Line 1245309790"/>
          <p:cNvCxnSpPr/>
          <p:nvPr/>
        </p:nvCxnSpPr>
        <p:spPr bwMode="auto">
          <a:xfrm flipV="1">
            <a:off x="7055646" y="2203179"/>
            <a:ext cx="768013" cy="0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29504" y="1953838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Lookup</a:t>
            </a:r>
            <a:endParaRPr lang="en-US" sz="1200" dirty="0"/>
          </a:p>
        </p:txBody>
      </p:sp>
      <p:cxnSp>
        <p:nvCxnSpPr>
          <p:cNvPr id="23" name="Line 1245309790"/>
          <p:cNvCxnSpPr>
            <a:stCxn id="1548024991" idx="2"/>
            <a:endCxn id="1955464364" idx="0"/>
          </p:cNvCxnSpPr>
          <p:nvPr/>
        </p:nvCxnSpPr>
        <p:spPr bwMode="auto">
          <a:xfrm>
            <a:off x="6410247" y="2415267"/>
            <a:ext cx="2177" cy="718571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30624" y="2588838"/>
            <a:ext cx="585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Page </a:t>
            </a:r>
          </a:p>
          <a:p>
            <a:r>
              <a:rPr lang="en-US" sz="1200" dirty="0" smtClean="0"/>
              <a:t>Fault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8809601" y="2393950"/>
            <a:ext cx="412750" cy="165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7603101" y="327025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Update entry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8685254" y="4989138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RAM</a:t>
            </a:r>
            <a:endParaRPr lang="en-US" sz="1200" dirty="0"/>
          </a:p>
        </p:txBody>
      </p:sp>
      <p:cxnSp>
        <p:nvCxnSpPr>
          <p:cNvPr id="32" name="Elbow Connector 31"/>
          <p:cNvCxnSpPr>
            <a:stCxn id="1955464364" idx="3"/>
            <a:endCxn id="33" idx="2"/>
          </p:cNvCxnSpPr>
          <p:nvPr/>
        </p:nvCxnSpPr>
        <p:spPr>
          <a:xfrm flipV="1">
            <a:off x="7078062" y="2559050"/>
            <a:ext cx="1937914" cy="87754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ne 1245309790"/>
          <p:cNvCxnSpPr/>
          <p:nvPr/>
        </p:nvCxnSpPr>
        <p:spPr bwMode="auto">
          <a:xfrm flipV="1">
            <a:off x="5033806" y="2285729"/>
            <a:ext cx="768013" cy="0"/>
          </a:xfrm>
          <a:prstGeom prst="line">
            <a:avLst/>
          </a:prstGeom>
          <a:ln w="12700">
            <a:headEnd type="triangle"/>
            <a:tailEnd type="non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09264" y="225863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data</a:t>
            </a:r>
            <a:endParaRPr lang="en-US" sz="1200" dirty="0"/>
          </a:p>
        </p:txBody>
      </p:sp>
      <p:cxnSp>
        <p:nvCxnSpPr>
          <p:cNvPr id="41" name="Line 1245309790"/>
          <p:cNvCxnSpPr/>
          <p:nvPr/>
        </p:nvCxnSpPr>
        <p:spPr bwMode="auto">
          <a:xfrm flipV="1">
            <a:off x="7055646" y="4666979"/>
            <a:ext cx="768013" cy="0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77104" y="4417638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Page Repl.</a:t>
            </a:r>
            <a:endParaRPr lang="en-US" sz="1200" dirty="0"/>
          </a:p>
        </p:txBody>
      </p:sp>
      <p:cxnSp>
        <p:nvCxnSpPr>
          <p:cNvPr id="43" name="Line 1245309790"/>
          <p:cNvCxnSpPr>
            <a:stCxn id="1955464364" idx="2"/>
            <a:endCxn id="141940206" idx="1"/>
          </p:cNvCxnSpPr>
          <p:nvPr/>
        </p:nvCxnSpPr>
        <p:spPr bwMode="auto">
          <a:xfrm flipH="1">
            <a:off x="6409301" y="3739355"/>
            <a:ext cx="3123" cy="470694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62374" y="3896938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R/W</a:t>
            </a:r>
            <a:endParaRPr lang="en-US" sz="1200" dirty="0"/>
          </a:p>
        </p:txBody>
      </p:sp>
      <p:cxnSp>
        <p:nvCxnSpPr>
          <p:cNvPr id="50" name="Elbow Connector 49"/>
          <p:cNvCxnSpPr/>
          <p:nvPr/>
        </p:nvCxnSpPr>
        <p:spPr>
          <a:xfrm>
            <a:off x="7025251" y="2381250"/>
            <a:ext cx="812800" cy="552450"/>
          </a:xfrm>
          <a:prstGeom prst="bentConnector3">
            <a:avLst>
              <a:gd name="adj1" fmla="val 50000"/>
            </a:avLst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048224" y="2525338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R/W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965200" y="5604930"/>
            <a:ext cx="1002069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CPU executes instructions to access virtual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MMU translates VA to PA using Page Table and gets data from RAM using PA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In case of Page Fault, control is passed to OS Page Supervisor module to do page replacement and update Page Table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After Page Fault is resolved, control is returned to MMU to redo step 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CPU execute the instruction with data returned by MMU</a:t>
            </a:r>
            <a:endParaRPr lang="en-US" sz="1400" dirty="0"/>
          </a:p>
        </p:txBody>
      </p:sp>
      <p:sp>
        <p:nvSpPr>
          <p:cNvPr id="59" name="Rectangle 58"/>
          <p:cNvSpPr/>
          <p:nvPr/>
        </p:nvSpPr>
        <p:spPr bwMode="auto">
          <a:xfrm>
            <a:off x="3979333" y="3226175"/>
            <a:ext cx="1502377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Repl. algos</a:t>
            </a:r>
            <a:endParaRPr dirty="0"/>
          </a:p>
        </p:txBody>
      </p:sp>
      <p:cxnSp>
        <p:nvCxnSpPr>
          <p:cNvPr id="61" name="Straight Connector 60"/>
          <p:cNvCxnSpPr>
            <a:stCxn id="1955464364" idx="1"/>
            <a:endCxn id="59" idx="3"/>
          </p:cNvCxnSpPr>
          <p:nvPr/>
        </p:nvCxnSpPr>
        <p:spPr>
          <a:xfrm flipH="1">
            <a:off x="5481710" y="3436597"/>
            <a:ext cx="265076" cy="219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Modules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30401" y="1972732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/>
                <a:gridCol w="65278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File (.c/.h)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config.h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Common</a:t>
                      </a:r>
                      <a:r>
                        <a:rPr lang="en-US" sz="1400" baseline="0" dirty="0" smtClean="0"/>
                        <a:t> configuration declaration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cpu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Simulate CPU. Read instructions from a asm</a:t>
                      </a:r>
                      <a:r>
                        <a:rPr lang="en-US" sz="1400" baseline="0" dirty="0" smtClean="0"/>
                        <a:t> program and execute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mmu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Simulate MMU, Translate VA to PA using page table (no TLB)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page_supervisor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Simulate</a:t>
                      </a:r>
                      <a:r>
                        <a:rPr lang="en-US" sz="1400" baseline="0" dirty="0" smtClean="0"/>
                        <a:t> OS Page Supervisor. Call replacement algo and update Page Table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replacement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Replacement algos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Makefile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Make file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*.asm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Asm programs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module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644930" y="1990044"/>
            <a:ext cx="1258660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CPU</a:t>
            </a:r>
          </a:p>
        </p:txBody>
      </p:sp>
      <p:sp>
        <p:nvSpPr>
          <p:cNvPr id="5" name="Flowchart: Document 4"/>
          <p:cNvSpPr/>
          <p:nvPr/>
        </p:nvSpPr>
        <p:spPr bwMode="auto">
          <a:xfrm>
            <a:off x="973554" y="1990044"/>
            <a:ext cx="1751919" cy="107002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ASM </a:t>
            </a:r>
            <a:r>
              <a:rPr dirty="0" smtClean="0"/>
              <a:t>program</a:t>
            </a:r>
            <a:endParaRPr dirty="0"/>
          </a:p>
          <a:p>
            <a:pPr lvl="0" algn="ctr">
              <a:defRPr/>
            </a:pPr>
            <a:r>
              <a:rPr sz="1400" dirty="0"/>
              <a:t>LOAD R1, 0x20A</a:t>
            </a:r>
          </a:p>
          <a:p>
            <a:pPr lvl="0" algn="ctr">
              <a:defRPr/>
            </a:pPr>
            <a:r>
              <a:rPr sz="1400" dirty="0"/>
              <a:t>STORE R0, 0x14E</a:t>
            </a:r>
          </a:p>
        </p:txBody>
      </p:sp>
      <p:cxnSp>
        <p:nvCxnSpPr>
          <p:cNvPr id="6" name="Line 1245309790"/>
          <p:cNvCxnSpPr>
            <a:endCxn id="4" idx="1"/>
          </p:cNvCxnSpPr>
          <p:nvPr/>
        </p:nvCxnSpPr>
        <p:spPr bwMode="auto">
          <a:xfrm flipV="1">
            <a:off x="2681845" y="2202656"/>
            <a:ext cx="963085" cy="2064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8917" y="4047049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Instruction set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78192" y="4488984"/>
            <a:ext cx="8542868" cy="106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3804" y="2588684"/>
            <a:ext cx="6604529" cy="119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MMU module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594809" y="1896911"/>
            <a:ext cx="1258660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CPU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041950" y="1896911"/>
            <a:ext cx="1258660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MMU</a:t>
            </a:r>
          </a:p>
        </p:txBody>
      </p:sp>
      <p:cxnSp>
        <p:nvCxnSpPr>
          <p:cNvPr id="12" name="Line 1245309790"/>
          <p:cNvCxnSpPr/>
          <p:nvPr/>
        </p:nvCxnSpPr>
        <p:spPr bwMode="auto">
          <a:xfrm>
            <a:off x="1849956" y="2228588"/>
            <a:ext cx="1193800" cy="0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 1245309790"/>
          <p:cNvCxnSpPr/>
          <p:nvPr/>
        </p:nvCxnSpPr>
        <p:spPr bwMode="auto">
          <a:xfrm>
            <a:off x="1856679" y="2008421"/>
            <a:ext cx="1168027" cy="0"/>
          </a:xfrm>
          <a:prstGeom prst="line">
            <a:avLst/>
          </a:prstGeom>
          <a:ln w="12700">
            <a:headEnd type="triangle"/>
            <a:tailEnd type="non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 bwMode="auto">
          <a:xfrm>
            <a:off x="2197237" y="1727330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data</a:t>
            </a:r>
            <a:endParaRPr lang="en-US" sz="1200" dirty="0"/>
          </a:p>
        </p:txBody>
      </p:sp>
      <p:sp>
        <p:nvSpPr>
          <p:cNvPr id="18" name="TextBox 17"/>
          <p:cNvSpPr txBox="1"/>
          <p:nvPr/>
        </p:nvSpPr>
        <p:spPr bwMode="auto">
          <a:xfrm>
            <a:off x="1780251" y="2235330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mmu_read(va)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mmu_write(va)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9192" y="2379135"/>
            <a:ext cx="8992943" cy="2091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t="2825"/>
          <a:stretch>
            <a:fillRect/>
          </a:stretch>
        </p:blipFill>
        <p:spPr bwMode="auto">
          <a:xfrm>
            <a:off x="1161522" y="4817533"/>
            <a:ext cx="2892744" cy="126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2682" y="5021370"/>
            <a:ext cx="6249986" cy="57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Supervisor module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861780" y="1752978"/>
            <a:ext cx="1258660" cy="425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MMU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827649" y="2896772"/>
            <a:ext cx="1331276" cy="6055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dirty="0"/>
              <a:t>OS Page Supervisor</a:t>
            </a:r>
          </a:p>
        </p:txBody>
      </p:sp>
      <p:cxnSp>
        <p:nvCxnSpPr>
          <p:cNvPr id="17" name="Line 1245309790"/>
          <p:cNvCxnSpPr>
            <a:stCxn id="13" idx="2"/>
            <a:endCxn id="16" idx="0"/>
          </p:cNvCxnSpPr>
          <p:nvPr/>
        </p:nvCxnSpPr>
        <p:spPr bwMode="auto">
          <a:xfrm>
            <a:off x="1491110" y="2178201"/>
            <a:ext cx="2177" cy="718571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 bwMode="auto">
          <a:xfrm>
            <a:off x="1011487" y="2351772"/>
            <a:ext cx="585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Page </a:t>
            </a:r>
          </a:p>
          <a:p>
            <a:r>
              <a:rPr lang="en-US" sz="1200" dirty="0" smtClean="0"/>
              <a:t>Fault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 bwMode="auto">
          <a:xfrm>
            <a:off x="719661" y="4233722"/>
            <a:ext cx="1617133" cy="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Replacement algos</a:t>
            </a:r>
            <a:endParaRPr dirty="0"/>
          </a:p>
        </p:txBody>
      </p:sp>
      <p:cxnSp>
        <p:nvCxnSpPr>
          <p:cNvPr id="22" name="Line 1245309790"/>
          <p:cNvCxnSpPr/>
          <p:nvPr/>
        </p:nvCxnSpPr>
        <p:spPr bwMode="auto">
          <a:xfrm>
            <a:off x="1491110" y="3507467"/>
            <a:ext cx="2177" cy="718571"/>
          </a:xfrm>
          <a:prstGeom prst="line">
            <a:avLst/>
          </a:prstGeom>
          <a:ln w="12700">
            <a:tailEnd type="triangle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2267" y="1696509"/>
            <a:ext cx="9328680" cy="216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4489" y="4040112"/>
            <a:ext cx="6336241" cy="2096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&amp; Page Table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9755" y="3860799"/>
            <a:ext cx="9388454" cy="1684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9647" y="1758950"/>
            <a:ext cx="5331353" cy="1727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2030</TotalTime>
  <Words>231</Words>
  <Application>Microsoft Office PowerPoint</Application>
  <PresentationFormat>Custom</PresentationFormat>
  <Paragraphs>74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Virtual Memory Simulator</vt:lpstr>
      <vt:lpstr>Program architecture</vt:lpstr>
      <vt:lpstr>Program Modules</vt:lpstr>
      <vt:lpstr>CPU module</vt:lpstr>
      <vt:lpstr>MMU module</vt:lpstr>
      <vt:lpstr>Page Supervisor module</vt:lpstr>
      <vt:lpstr>Memory &amp; Page Table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Simulator</dc:title>
  <dc:creator/>
  <cp:lastModifiedBy>Quoc-Hung Hoang</cp:lastModifiedBy>
  <cp:revision>12</cp:revision>
  <dcterms:modified xsi:type="dcterms:W3CDTF">2026-03-04T14:03:20Z</dcterms:modified>
</cp:coreProperties>
</file>